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1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0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5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5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6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984807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298939" y="177143"/>
            <a:ext cx="8610601" cy="6553201"/>
          </a:xfrm>
          <a:prstGeom prst="rect">
            <a:avLst/>
          </a:prstGeom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Straight Connector 8"/>
          <p:cNvSpPr/>
          <p:nvPr/>
        </p:nvSpPr>
        <p:spPr>
          <a:xfrm>
            <a:off x="298939" y="1219200"/>
            <a:ext cx="8610602" cy="1589"/>
          </a:xfrm>
          <a:prstGeom prst="line">
            <a:avLst/>
          </a:prstGeom>
          <a:ln w="25400">
            <a:solidFill>
              <a:srgbClr val="1F497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298939" y="228600"/>
            <a:ext cx="8229601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ooter Placeholder 5"/>
          <p:cNvSpPr txBox="1"/>
          <p:nvPr/>
        </p:nvSpPr>
        <p:spPr>
          <a:xfrm>
            <a:off x="3169919" y="6414760"/>
            <a:ext cx="28041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School of Computing - CSE</a:t>
            </a:r>
          </a:p>
        </p:txBody>
      </p:sp>
      <p:sp>
        <p:nvSpPr>
          <p:cNvPr id="105" name="Title 1"/>
          <p:cNvSpPr txBox="1"/>
          <p:nvPr>
            <p:ph type="ctrTitle"/>
          </p:nvPr>
        </p:nvSpPr>
        <p:spPr>
          <a:xfrm>
            <a:off x="571500" y="449943"/>
            <a:ext cx="7772400" cy="3505200"/>
          </a:xfrm>
          <a:prstGeom prst="rect">
            <a:avLst/>
          </a:prstGeom>
        </p:spPr>
        <p:txBody>
          <a:bodyPr/>
          <a:lstStyle/>
          <a:p>
            <a:pPr>
              <a:defRPr sz="2000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pPr>
            <a:br/>
            <a:br/>
          </a:p>
        </p:txBody>
      </p:sp>
      <p:sp>
        <p:nvSpPr>
          <p:cNvPr id="106" name="Subtitle 2"/>
          <p:cNvSpPr txBox="1"/>
          <p:nvPr>
            <p:ph type="subTitle" sz="quarter" idx="1"/>
          </p:nvPr>
        </p:nvSpPr>
        <p:spPr>
          <a:xfrm>
            <a:off x="718039" y="3571919"/>
            <a:ext cx="7772401" cy="88541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Project Automobile Sales and Services Analysis</a:t>
            </a:r>
          </a:p>
        </p:txBody>
      </p:sp>
      <p:sp>
        <p:nvSpPr>
          <p:cNvPr id="107" name="Date Placeholder 3"/>
          <p:cNvSpPr txBox="1"/>
          <p:nvPr/>
        </p:nvSpPr>
        <p:spPr>
          <a:xfrm>
            <a:off x="502919" y="6414760"/>
            <a:ext cx="2042162" cy="24830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50800" dir="5400000">
              <a:srgbClr val="FFFFFF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14 September 2026</a:t>
            </a:r>
          </a:p>
        </p:txBody>
      </p:sp>
      <p:sp>
        <p:nvSpPr>
          <p:cNvPr id="108" name="Slide Number Placeholder 4"/>
          <p:cNvSpPr txBox="1"/>
          <p:nvPr>
            <p:ph type="sldNum" sz="quarter" idx="2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9" name="TextBox 13"/>
          <p:cNvSpPr txBox="1"/>
          <p:nvPr/>
        </p:nvSpPr>
        <p:spPr>
          <a:xfrm>
            <a:off x="388617" y="2245640"/>
            <a:ext cx="8519161" cy="1209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20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DEPARTMENT OF COMPUTER SCIENCE AND ENGINEERING</a:t>
            </a:r>
          </a:p>
          <a:p>
            <a:pPr algn="ctr">
              <a:defRPr b="1" sz="20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defRPr b="1"/>
            </a:pPr>
            <a:r>
              <a:t>Professional Training I</a:t>
            </a:r>
          </a:p>
        </p:txBody>
      </p:sp>
      <p:sp>
        <p:nvSpPr>
          <p:cNvPr id="110" name="Subtitle 2"/>
          <p:cNvSpPr txBox="1"/>
          <p:nvPr/>
        </p:nvSpPr>
        <p:spPr>
          <a:xfrm>
            <a:off x="502919" y="4901084"/>
            <a:ext cx="3145242" cy="1487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b="1" sz="2400"/>
            </a:pPr>
            <a:r>
              <a:t>PROJECT STUDENT:</a:t>
            </a:r>
          </a:p>
          <a:p>
            <a:pPr>
              <a:spcBef>
                <a:spcPts val="500"/>
              </a:spcBef>
              <a:defRPr b="1" sz="2400"/>
            </a:pPr>
            <a:r>
              <a:t>Santhosh.R-44111004                                                            </a:t>
            </a:r>
          </a:p>
        </p:txBody>
      </p:sp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6352" y="319092"/>
            <a:ext cx="8496301" cy="2043109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Subtitle 2"/>
          <p:cNvSpPr txBox="1"/>
          <p:nvPr/>
        </p:nvSpPr>
        <p:spPr>
          <a:xfrm>
            <a:off x="5169586" y="4756480"/>
            <a:ext cx="3145241" cy="1487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b="1" sz="2400"/>
            </a:pPr>
            <a:r>
              <a:t>GUIDE: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404"/>
            </a:pPr>
            <a:r>
              <a:t>Ms.Sandhiya 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ooter Placeholder 4"/>
          <p:cNvSpPr txBox="1"/>
          <p:nvPr/>
        </p:nvSpPr>
        <p:spPr>
          <a:xfrm>
            <a:off x="3169919" y="6414760"/>
            <a:ext cx="28041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School of Computing - CSE</a:t>
            </a:r>
          </a:p>
        </p:txBody>
      </p:sp>
      <p:sp>
        <p:nvSpPr>
          <p:cNvPr id="115" name="Title 1"/>
          <p:cNvSpPr txBox="1"/>
          <p:nvPr>
            <p:ph type="title"/>
          </p:nvPr>
        </p:nvSpPr>
        <p:spPr>
          <a:xfrm>
            <a:off x="457199" y="170188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AGENDA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993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Abstract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Introduction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Objective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System Architecture / Ideation Map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Module Implementation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Results and Discussions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Conclusion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References</a:t>
            </a:r>
          </a:p>
        </p:txBody>
      </p:sp>
      <p:sp>
        <p:nvSpPr>
          <p:cNvPr id="117" name="Date Placeholder 3"/>
          <p:cNvSpPr txBox="1"/>
          <p:nvPr/>
        </p:nvSpPr>
        <p:spPr>
          <a:xfrm>
            <a:off x="502919" y="6414760"/>
            <a:ext cx="20421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14 September 2026</a:t>
            </a:r>
          </a:p>
        </p:txBody>
      </p:sp>
      <p:sp>
        <p:nvSpPr>
          <p:cNvPr id="118" name="Slide Number Placeholder 5"/>
          <p:cNvSpPr txBox="1"/>
          <p:nvPr>
            <p:ph type="sldNum" sz="quarter" idx="2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 Placeholder 5"/>
          <p:cNvSpPr txBox="1"/>
          <p:nvPr>
            <p:ph type="sldNum" sz="quarter" idx="2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1" name="Content Placeholder 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Focus:</a:t>
            </a:r>
            <a:r>
              <a:t> Analysis of Indian automobile sales and service records.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Tools:</a:t>
            </a:r>
            <a:r>
              <a:t> Data processing via Google Colab (Python) and visualization via Power BI.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Outcome:</a:t>
            </a:r>
            <a:r>
              <a:t> Actionable insights into top-selling regions, service cost averages, and frequent vehicle maintenance needs.</a:t>
            </a:r>
          </a:p>
        </p:txBody>
      </p:sp>
      <p:sp>
        <p:nvSpPr>
          <p:cNvPr id="122" name="Title 1"/>
          <p:cNvSpPr txBox="1"/>
          <p:nvPr>
            <p:ph type="title"/>
          </p:nvPr>
        </p:nvSpPr>
        <p:spPr>
          <a:xfrm>
            <a:off x="250263" y="168602"/>
            <a:ext cx="8229601" cy="1143001"/>
          </a:xfrm>
          <a:prstGeom prst="rect">
            <a:avLst/>
          </a:prstGeom>
        </p:spPr>
        <p:txBody>
          <a:bodyPr/>
          <a:lstStyle/>
          <a:p>
            <a:pPr>
              <a:defRPr b="1" cap="all" sz="4000"/>
            </a:pPr>
            <a:r>
              <a:t>     </a:t>
            </a:r>
            <a:r>
              <a:rPr b="0" sz="3600"/>
              <a:t>Abstract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lide Number Placeholder 5"/>
          <p:cNvSpPr txBox="1"/>
          <p:nvPr>
            <p:ph type="sldNum" sz="quarter" idx="2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5" name="Content Placeholder 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Context:</a:t>
            </a:r>
            <a:r>
              <a:t> The automotive industry generates massive datasets across vehicle sales and aftermarket services.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Problem:</a:t>
            </a:r>
            <a:r>
              <a:t> Dealerships struggle to manually extract business insights from raw operational data.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Solution:</a:t>
            </a:r>
            <a:r>
              <a:t> An automated analytics pipeline to track revenue, customer satisfaction, and service center workload.</a:t>
            </a:r>
          </a:p>
        </p:txBody>
      </p:sp>
      <p:sp>
        <p:nvSpPr>
          <p:cNvPr id="126" name="Title 1"/>
          <p:cNvSpPr txBox="1"/>
          <p:nvPr>
            <p:ph type="title"/>
          </p:nvPr>
        </p:nvSpPr>
        <p:spPr>
          <a:xfrm>
            <a:off x="250263" y="168602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     Introduction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 Placeholder 5"/>
          <p:cNvSpPr txBox="1"/>
          <p:nvPr>
            <p:ph type="sldNum" sz="quarter" idx="2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9" name="Content Placeholder 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dentify top-performing Indian states and vehicle categories by sales revenue.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Determine the most frequent service requests and calculate average customer billing.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Build an interactive Power BI dashboard for real-time data filtering and business monitoring.</a:t>
            </a:r>
          </a:p>
        </p:txBody>
      </p:sp>
      <p:sp>
        <p:nvSpPr>
          <p:cNvPr id="130" name="Title 1"/>
          <p:cNvSpPr txBox="1"/>
          <p:nvPr>
            <p:ph type="title"/>
          </p:nvPr>
        </p:nvSpPr>
        <p:spPr>
          <a:xfrm>
            <a:off x="250263" y="168602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     Objective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 Placeholder 5"/>
          <p:cNvSpPr txBox="1"/>
          <p:nvPr>
            <p:ph type="sldNum" sz="quarter" idx="2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3" name="Title 1"/>
          <p:cNvSpPr txBox="1"/>
          <p:nvPr>
            <p:ph type="title"/>
          </p:nvPr>
        </p:nvSpPr>
        <p:spPr>
          <a:xfrm>
            <a:off x="250263" y="168602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     System Architecture / Ideation Map</a:t>
            </a:r>
          </a:p>
        </p:txBody>
      </p:sp>
      <p:pic>
        <p:nvPicPr>
          <p:cNvPr id="134" name="Unknown.jpeg" descr="Unknown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7078" y="1583253"/>
            <a:ext cx="8209844" cy="44817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lide Number Placeholder 5"/>
          <p:cNvSpPr txBox="1"/>
          <p:nvPr>
            <p:ph type="sldNum" sz="quarter" idx="2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7" name="Content Placeholder 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Preprocessing Module:</a:t>
            </a:r>
            <a:r>
              <a:t> Python scripts to clean nulls, correct data types, and group age brackets.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Analysis Module:</a:t>
            </a:r>
            <a:r>
              <a:t> Aggregating total sales by state and calculating average service costs.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Reporting Module:</a:t>
            </a:r>
            <a:r>
              <a:t> Designing Power BI slicers for Year, State, and Fuel Type to enable dynamic user exploration.</a:t>
            </a:r>
          </a:p>
        </p:txBody>
      </p:sp>
      <p:sp>
        <p:nvSpPr>
          <p:cNvPr id="138" name="Title 1"/>
          <p:cNvSpPr txBox="1"/>
          <p:nvPr>
            <p:ph type="title"/>
          </p:nvPr>
        </p:nvSpPr>
        <p:spPr>
          <a:xfrm>
            <a:off x="250263" y="168602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     Module Implementation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 Placeholder 5"/>
          <p:cNvSpPr txBox="1"/>
          <p:nvPr>
            <p:ph type="sldNum" sz="quarter" idx="2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1" name="Content Placeholder 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Sales Leaders:</a:t>
            </a:r>
            <a:r>
              <a:t> Karnataka, West Bengal, and Kerala generated the highest estimated sales value.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Service Trends:</a:t>
            </a:r>
            <a:r>
              <a:t> "Accident Repair" emerged as the most frequent service type across centers.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Cost Metrics:</a:t>
            </a:r>
            <a:r>
              <a:t> The average customer service bill was calculated at approximately ₹9,204.</a:t>
            </a:r>
          </a:p>
        </p:txBody>
      </p:sp>
      <p:sp>
        <p:nvSpPr>
          <p:cNvPr id="142" name="Title 1"/>
          <p:cNvSpPr txBox="1"/>
          <p:nvPr>
            <p:ph type="title"/>
          </p:nvPr>
        </p:nvSpPr>
        <p:spPr>
          <a:xfrm>
            <a:off x="250263" y="168602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     Results and Discussions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lide Number Placeholder 5"/>
          <p:cNvSpPr txBox="1"/>
          <p:nvPr>
            <p:ph type="sldNum" sz="quarter" idx="2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5" name="Content Placeholder 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Summary:</a:t>
            </a:r>
            <a:r>
              <a:t> The project successfully transformed raw automotive data into a clear, visual business intelligence tool.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Impact:</a:t>
            </a:r>
            <a:r>
              <a:t> Dealerships can use these metrics to optimize spare parts inventory and target high-revenue regions.</a:t>
            </a:r>
          </a:p>
          <a:p>
            <a:pPr marL="457200" indent="-317500" defTabSz="457200">
              <a:spcBef>
                <a:spcPts val="1200"/>
              </a:spcBef>
              <a:buFont typeface="Times Roman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Future Scope:</a:t>
            </a:r>
            <a:r>
              <a:t> Integrating machine learning in Python to predict future sales trends and preventative maintenance schedules.</a:t>
            </a:r>
          </a:p>
        </p:txBody>
      </p:sp>
      <p:sp>
        <p:nvSpPr>
          <p:cNvPr id="146" name="Title 1"/>
          <p:cNvSpPr txBox="1"/>
          <p:nvPr>
            <p:ph type="title"/>
          </p:nvPr>
        </p:nvSpPr>
        <p:spPr>
          <a:xfrm>
            <a:off x="250263" y="168602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     Conclusion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lide Number Placeholder 5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9" name="Content Placeholder 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spcBef>
                <a:spcPts val="1200"/>
              </a:spcBef>
              <a:buSzTx/>
              <a:buFontTx/>
              <a:buNone/>
              <a:defRPr sz="25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latin typeface="Times Roman"/>
                <a:ea typeface="Times Roman"/>
                <a:cs typeface="Times Roman"/>
                <a:sym typeface="Times Roman"/>
              </a:rPr>
              <a:t>Dataset Source: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t>India_Automobile_Sales_Service_Analysis_Dataset.xlsx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 (Sourced from Kaggle).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 defTabSz="457200">
              <a:spcBef>
                <a:spcPts val="1200"/>
              </a:spcBef>
              <a:buSzTx/>
              <a:buFontTx/>
              <a:buNone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Software:</a:t>
            </a:r>
            <a:r>
              <a:t> Google Colab (Python, Pandas documentation).</a:t>
            </a:r>
          </a:p>
          <a:p>
            <a:pPr marL="0" indent="0" defTabSz="457200">
              <a:spcBef>
                <a:spcPts val="1200"/>
              </a:spcBef>
              <a:buSzTx/>
              <a:buFontTx/>
              <a:buNone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Visualization:</a:t>
            </a:r>
            <a:r>
              <a:t> Microsoft Power BI Official DAX Reference Guide.</a:t>
            </a:r>
          </a:p>
        </p:txBody>
      </p:sp>
      <p:sp>
        <p:nvSpPr>
          <p:cNvPr id="150" name="Title 1"/>
          <p:cNvSpPr txBox="1"/>
          <p:nvPr>
            <p:ph type="title"/>
          </p:nvPr>
        </p:nvSpPr>
        <p:spPr>
          <a:xfrm>
            <a:off x="250263" y="168602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     References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Custom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stom Design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Custom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stom Design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